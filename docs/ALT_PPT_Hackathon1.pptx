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-1219" y="-86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820820-A518-4D7B-9E7A-956C3C6C222E}" type="datetimeFigureOut">
              <a:rPr lang="en-IN" smtClean="0"/>
              <a:t>23-09-2026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1825" y="914400"/>
            <a:ext cx="8121650" cy="45704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89613"/>
            <a:ext cx="5486400" cy="54848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77638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55ED2D-9FDA-4D54-B9D0-A0777E938F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548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aclanthology.org/2023.ccl-1.68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arxiv.org/pdf/2508.00709" TargetMode="External"/><Relationship Id="rId5" Type="http://schemas.openxmlformats.org/officeDocument/2006/relationships/hyperlink" Target="https://arxiv.org/abs/2408.10343" TargetMode="External"/><Relationship Id="rId4" Type="http://schemas.openxmlformats.org/officeDocument/2006/relationships/hyperlink" Target="https://aclanthology.org/2024.nllp-1.6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57200"/>
            <a:ext cx="2377440" cy="1234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214884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Retrieval-Augmented Intelligent Legal Assistant</a:t>
            </a: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2926080"/>
            <a:ext cx="9875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i="1" dirty="0">
                <a:solidFill>
                  <a:srgbClr val="2626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Court Judgments</a:t>
            </a:r>
            <a:endParaRPr lang="en-US" sz="2000" dirty="0"/>
          </a:p>
        </p:txBody>
      </p:sp>
      <p:sp>
        <p:nvSpPr>
          <p:cNvPr id="5" name="Text 2"/>
          <p:cNvSpPr/>
          <p:nvPr/>
        </p:nvSpPr>
        <p:spPr>
          <a:xfrm>
            <a:off x="548640" y="352044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  ·   Hybrid Retrieval   ·   LLM Reasoning   ·   Cited Answer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434340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Subject: </a:t>
            </a: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Machine Learning for Text Analytics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4800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12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Sahasra – 2420090091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P. Shreya – 2420090093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Gowrie – 2420030298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chemeClr val="accent2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K. Ishta – 2420039803</a:t>
            </a:r>
            <a:endParaRPr lang="en-US" sz="12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8" name="Text 5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Title &amp; 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Title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Intelligent Legal Assistant for Court Judgments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035040" y="1417320"/>
            <a:ext cx="55778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Problem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035040" y="1719072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judgments are long, citation-heavy and domain-specific. Keyword search can miss semantically related precedents, while standalone LLMs may produce unsupported or hallucinated legal claims.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legal research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access to precedents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Evidence-backed answers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analytics challenge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367784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Long-document understanding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terminology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Cross-document relevance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186928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requirement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86928" y="3886200"/>
            <a:ext cx="3453384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material claim should be traceable to retrieved 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should abstain when evidence is weak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 smtClean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 smtClean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51560" y="1508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build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searchable corpus of court judgments 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ybrid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— BM25 + dense </a:t>
            </a:r>
            <a:r>
              <a:rPr lang="en-US" sz="14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metadata filters, refined by </a:t>
            </a:r>
            <a:r>
              <a:rPr lang="en-US" sz="1400" dirty="0" err="1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reranking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 smtClean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endParaRPr lang="en-US" sz="1400" dirty="0">
              <a:latin typeface="Calibri" charset="0"/>
              <a:ea typeface="Calibri" charset="0"/>
              <a:cs typeface="Calibri" charset="0"/>
            </a:endParaRP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51560" y="21945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develop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legal-aware retrieval using dense + lexical 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signals. Attach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case, paragraph/page and citation evidence to outputs.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concise answers grounded in retrieved </a:t>
            </a:r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passages. Evaluate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quality, answer quality and faithfulness.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5661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51560" y="35661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400" dirty="0" smtClean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demonstrate </a:t>
            </a:r>
            <a:r>
              <a:rPr lang="en-US" sz="14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for legal research assistance — not autonomous legal decision-making.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051560" y="42519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49377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51560" y="4937760"/>
            <a:ext cx="105887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Survey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4740910"/>
              </p:ext>
            </p:extLst>
          </p:nvPr>
        </p:nvGraphicFramePr>
        <p:xfrm>
          <a:off x="548640" y="1417320"/>
          <a:ext cx="11091672" cy="452628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  <a:gridCol w="2743200"/>
                <a:gridCol w="2953512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 smtClean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Implication for project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Case Retrieval for 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LJP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3"/>
                        </a:rPr>
                        <a:t>https://aclanthology.org/2023.ccl-1.68/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(Zhang &amp; Dou, 2023)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Historical cases improve realism of legal 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precedent retrieval as a first-class component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Rethinking Legal Judgment 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Prediction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4"/>
                        </a:rPr>
                        <a:t>https://aclanthology.org/2024.nllp-1.6/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2024)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legal information improves prediction; expert-level reliability remains open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responses in statutes/precedents, avoid overclaiming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LegalBench-RAG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5"/>
                        </a:rPr>
                        <a:t>https://arxiv.org/abs/2408.10343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</a:t>
                      </a: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Pipitone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&amp; </a:t>
                      </a: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Houir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Alami</a:t>
                      </a: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2024)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Precise snippets are preferable to large imprecise chunks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passage-level retrieval and citation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err="1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NyayaRAG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 smtClean="0">
                          <a:latin typeface="Calibri" charset="0"/>
                          <a:ea typeface="Calibri" charset="0"/>
                          <a:cs typeface="Calibri" charset="0"/>
                          <a:hlinkClick r:id="rId6"/>
                        </a:rPr>
                        <a:t>https://arxiv.org/pdf/2508.00709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 smtClean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(Nigam et al., 2025)</a:t>
                      </a:r>
                      <a:endParaRPr lang="en-US" sz="1050" dirty="0" smtClean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l">
                        <a:buNone/>
                      </a:pP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Combines realistic case context with precedent retrieval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Motivates India-focused retrieval + explanation pipeline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" name="Text 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Identification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gap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semantic search may retrieve topical matches without enough legal relevance, hierarchy or temporal context.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367784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gap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67784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chunks can split holdings, exceptions, citations and procedural context.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86928" y="150876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86928" y="187452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fluent answer is not enough; users need claim-level provenance and direct judgment evidence.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48640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gap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RAG needs separate measurement of retrieval relevance, answer correctness and faithfulness.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367784" y="3520440"/>
            <a:ext cx="345338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367784" y="3886200"/>
            <a:ext cx="3453384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target prediction or retrieval separately; an end-to-end court-judgment assistant must connect ingestion → retrieval → grounded response.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Innovation, Creativity &amp; Novelty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3200400" y="150876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retrieval: BM25/keyword + dense embeddings + metadata filters + cross-encoder reranking.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56032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Creativity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200400" y="269748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Legal-structure-aware chunking around case sections, issues, holdings, statutes and cited precedents.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74904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88620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Novelty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200400" y="388620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Evidence-first answer generation: each claim is linked to retrieved passages; unsupported claims trigger a low-confidence / abstain response.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493776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5074920"/>
            <a:ext cx="237744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contribution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200400" y="5074920"/>
            <a:ext cx="8439912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evaluation matrix that separately measures Recall@k / MRR, citation correctness, groundedness, answer relevance and latency.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6126480"/>
            <a:ext cx="11091672" cy="0"/>
          </a:xfrm>
          <a:prstGeom prst="line">
            <a:avLst/>
          </a:prstGeom>
          <a:noFill/>
          <a:ln w="9525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 Architecture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 for court-judgment question answering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350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Corpus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Judgments + metadata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130552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50592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50592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505456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Prep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05456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/ text cleaning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032504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352544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52544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407408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07408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vector index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934456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4496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54496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09360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top-k + reranking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7836408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156448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56448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211312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11312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with retrieved evidence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9738360" y="1965960"/>
            <a:ext cx="3200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058400" y="1965960"/>
            <a:ext cx="1581912" cy="141732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9D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58400" y="2075688"/>
            <a:ext cx="1581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0113264" y="2423160"/>
            <a:ext cx="147218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0113264" y="2807208"/>
            <a:ext cx="147218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+ faithfulness check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48640" y="3794760"/>
            <a:ext cx="11091672" cy="685800"/>
          </a:xfrm>
          <a:prstGeom prst="roundRect">
            <a:avLst>
              <a:gd name="adj" fmla="val 6667"/>
            </a:avLst>
          </a:prstGeom>
          <a:solidFill>
            <a:srgbClr val="F5F5F5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3794760"/>
            <a:ext cx="1054303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query: </a:t>
            </a:r>
            <a:r>
              <a:rPr lang="en-US" sz="13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“Which precedents support X?”</a:t>
            </a:r>
            <a:r>
              <a:rPr lang="en-US" sz="13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→      </a:t>
            </a: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citations + confidence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Analysis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Publicly accessible judgment repositories or institution-provided datasets can support a prototype. Start with one jurisdiction/court to control scope.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68796" y="150876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368796" y="185623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sentence-transformers / legal embeddings, BM25, FAISS/Chroma, reranker, and an open or API-based LLM.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can run on a single modern GPU or cloud notebook; retrieval can remain local while generation is modular.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68796" y="2926080"/>
            <a:ext cx="52715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368796" y="3273552"/>
            <a:ext cx="5271516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NLP preprocessing, information retrieval, embeddings, evaluation and prompt engineering — aligned with text analytics.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44348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61772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controls: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citations, confidence thresholds, human verification and an explicit “insufficient evidence” response.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for the retrieval-augmented legal assistant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for the ML / NLP pipeline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368796" y="1581912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8" name="Text 6"/>
          <p:cNvSpPr/>
          <p:nvPr/>
        </p:nvSpPr>
        <p:spPr>
          <a:xfrm>
            <a:off x="6597396" y="1508760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Sentence-Transformers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97396" y="1801368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legal-domain embeddings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/ keyword retrieval signal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368796" y="2331720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4" name="Text 12"/>
          <p:cNvSpPr/>
          <p:nvPr/>
        </p:nvSpPr>
        <p:spPr>
          <a:xfrm>
            <a:off x="6597396" y="2258568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/ ChromaDB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97396" y="2551176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index &amp; similarity search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Cross-Encoder Reranker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Reorders top-k hybrid results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368796" y="3081528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0" name="Text 18"/>
          <p:cNvSpPr/>
          <p:nvPr/>
        </p:nvSpPr>
        <p:spPr>
          <a:xfrm>
            <a:off x="6597396" y="3008376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(open-source / API)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97396" y="3300984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answer generation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48640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&amp; Text Cleaning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77240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Judgment ingestion &amp; preprocessing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68796" y="3831336"/>
            <a:ext cx="91440" cy="91440"/>
          </a:xfrm>
          <a:prstGeom prst="rect">
            <a:avLst/>
          </a:prstGeom>
          <a:solidFill>
            <a:srgbClr val="8C1116"/>
          </a:solidFill>
          <a:ln/>
        </p:spPr>
      </p:sp>
      <p:sp>
        <p:nvSpPr>
          <p:cNvPr id="26" name="Text 24"/>
          <p:cNvSpPr/>
          <p:nvPr/>
        </p:nvSpPr>
        <p:spPr>
          <a:xfrm>
            <a:off x="6597396" y="3758184"/>
            <a:ext cx="50429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Suite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597396" y="4050792"/>
            <a:ext cx="50429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Recall@k, MRR, faithfulness scoring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46177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75488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Compute:  </a:t>
            </a: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modern GPU or cloud notebook — retrieval stays local while generation is modular.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&amp; Success Criteria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3429000"/>
        </p:xfrm>
        <a:graphic>
          <a:graphicData uri="http://schemas.openxmlformats.org/drawingml/2006/table">
            <a:tbl>
              <a:tblPr/>
              <a:tblGrid>
                <a:gridCol w="2468880"/>
                <a:gridCol w="4114800"/>
                <a:gridCol w="4507992"/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question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Recall@k, Precision@k, MRR / nDCG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relevant precedents/passages retrieved?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quality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Expert or rubric-based correctness + relevance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Does the response answer the legal question?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Claim-to-source entailment / citation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 claims supported by retrieved evidence?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Latency, answer length, citation coverage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 the assistant practical for research?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Ablation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BM25 vs dense vs hybrid vs reranker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component contributes most?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4924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48640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outcome:  </a:t>
            </a:r>
            <a:r>
              <a:rPr lang="en-US" sz="12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evidence retrieval and citation coverage over a simple keyword baseline while reducing unsupported generated claims.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Legal Search vs. This Project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4023360"/>
        </p:xfrm>
        <a:graphic>
          <a:graphicData uri="http://schemas.openxmlformats.org/drawingml/2006/table">
            <a:tbl>
              <a:tblPr/>
              <a:tblGrid>
                <a:gridCol w="2194560"/>
                <a:gridCol w="4480560"/>
                <a:gridCol w="4416552"/>
              </a:tblGrid>
              <a:tr h="4114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Existing Legal Websites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Project (RAG Assistant)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111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 method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Keyword / Boolean search over full judgments; misses semantically related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retrieval — BM25 + dense embeddings + metadata filters, refined by reranking.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handling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whole judgments or fixed pages; holdings and exceptions can get split apart.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Legal-structure-aware chunking around issues, holdings, statutes and precedents.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 format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ranked list of documents — the user must read each judgment to find the answer.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concise, generated answer grounded directly in the retrieved passages.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Evidence &amp; citations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claim-level links; citations must be located manually inside the judgment.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claim is linked to its case, paragraph/page and citation.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Reliability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confidence signal — results are shown regardless of relevance.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26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Faithfulness check with a low-confidence / abstain response when evidence is weak.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76200" marB="76200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548640" y="539496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8640" y="5532120"/>
            <a:ext cx="1109167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effect:  </a:t>
            </a:r>
            <a:r>
              <a:rPr lang="en-US" sz="125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legal search returns documents to read — this project returns a grounded, cited, confidence-checked answer.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Plan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868680"/>
            <a:ext cx="110916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10-week academic project schedule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97280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literature survey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48640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 + metadata schema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Cleaning, OCR checks + legal-aware chunking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7280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+ dense retrieval baseline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97280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retrieval + reranker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368796" y="1600200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17436" y="1600200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prompt design + citation formatting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68796" y="1984248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917436" y="1984248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Faithfulness / confidence verification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368796" y="2368296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17436" y="2368296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ablation experiments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6368796" y="2752344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W9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17436" y="2752344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analysis + UI/prototype refinement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368796" y="3136392"/>
            <a:ext cx="502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17436" y="3136392"/>
            <a:ext cx="47228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Report, presentation + demo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3703320"/>
            <a:ext cx="11091672" cy="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retrieval baseline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367784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367784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RAG prototype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186928" y="3977640"/>
            <a:ext cx="345338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186928" y="4297680"/>
            <a:ext cx="34533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+ final demo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8C1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Outcome &amp; References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141732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prototype legal research assistant that: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Retrieves relevant court-judgment passages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Summarizes evidence in plain language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Cites source passages/cases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Exposes confidence and uncertainty</a:t>
            </a:r>
            <a:endParaRPr lang="en-US" sz="1150" dirty="0"/>
          </a:p>
          <a:p>
            <a:pPr marL="177800" indent="-177800">
              <a:lnSpc>
                <a:spcPct val="120000"/>
              </a:lnSpc>
              <a:buSzPct val="100000"/>
              <a:buChar char="▪"/>
            </a:pPr>
            <a:r>
              <a:rPr lang="en-US" sz="11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human legal research rather than replacing legal judgment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3977640"/>
            <a:ext cx="5120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Value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4279392"/>
            <a:ext cx="51206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applied ML for text analytics through retrieval, semantic similarity, reranking, generation, evaluation and error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89320" y="1417320"/>
            <a:ext cx="0" cy="4572000"/>
          </a:xfrm>
          <a:prstGeom prst="line">
            <a:avLst/>
          </a:prstGeom>
          <a:noFill/>
          <a:ln w="12700">
            <a:solidFill>
              <a:srgbClr val="D9D9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63640" y="1417320"/>
            <a:ext cx="5394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8C1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References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263640" y="1737360"/>
            <a:ext cx="53949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Zhang &amp; Dou (2023), Case Retrieval for Legal Judgment Prediction, 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Nigam et al. (2024), Rethinking Legal Judgement Prediction in a Realistic Scenario,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Pipitone &amp; Houir Alami (2024), LegalBench-RAG, arXiv.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Wiggers &amp; Hartz (2024), LeReRAG: Measuring Legal Relevance in RAG Applications, IOS Press.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Nigam et al. (2025), NyayaRAG: Realistic Legal Judgment Prediction with RAG under the Indian Common Law System, IJCNLP/ACL Anthology.</a:t>
            </a:r>
            <a:endParaRPr lang="en-US" sz="105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05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Magesh et al. (2024), Hallucination-Free? Assessing the Reliability of Leading AI Legal Research Tools, arXiv.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ML for Text Analytics — Legal RAG Assistant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09167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1453</Words>
  <Application>Microsoft Office PowerPoint</Application>
  <PresentationFormat>Custom</PresentationFormat>
  <Paragraphs>273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Sahasra Alla</cp:lastModifiedBy>
  <cp:revision>5</cp:revision>
  <dcterms:created xsi:type="dcterms:W3CDTF">2026-08-13T05:49:54Z</dcterms:created>
  <dcterms:modified xsi:type="dcterms:W3CDTF">2026-09-23T05:04:42Z</dcterms:modified>
</cp:coreProperties>
</file>