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7275B-EC8D-4A4C-8632-FE5D7CDCECDD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E4B32-6A85-489D-897C-0CB2239E0F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2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corpus of court judgments with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legal-aware retrieval using dense + lexical signals.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answers grounded in retrieved passages.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case, paragraph/page and citation evidence to outputs.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quality, answer quality and faithfulness.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prototype for legal research assistance — not autonomous legal decision-making.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similar historical cases for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judgments + statutes + precedents + LLMs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(Pipitone &amp; Houir Alami,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legal RAG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with facts, statutes and semantically retrieved prior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Backend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for the retrieval-augmented legal assistant</a:t>
            </a:r>
            <a:endParaRPr lang="en-US" sz="1250" dirty="0"/>
          </a:p>
        </p:txBody>
      </p:sp>
      <p:sp>
        <p:nvSpPr>
          <p:cNvPr id="100" name="Header FE"/>
          <p:cNvSpPr/>
          <p:nvPr/>
        </p:nvSpPr>
        <p:spPr>
          <a:xfrm>
            <a:off x="548640" y="124000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1" name="Header BE"/>
          <p:cNvSpPr/>
          <p:nvPr/>
        </p:nvSpPr>
        <p:spPr>
          <a:xfrm>
            <a:off x="6368796" y="1240000"/>
            <a:ext cx="5271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for legal research queries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retrieval, generation, verification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Evidence 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answer linked to case, paragraph, citation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embeddings with cross-encoder reranking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Abstain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low-confidence or insufficient-evidence 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legal-aware chunking, BM25 + vector indexing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History Manager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past queries and saved research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Logging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faithfulness scoring, response logging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backend API; responses return grounded answers with citations and a confidence score.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– Gather court judgments with case and citation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– Apply OCR, text cleaning and legal-structure-aware chunking.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– Build BM25 and vector indexes for lexical and semantic search.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– Combine hybrid top-k retrieval with cross-encoder reranking.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– Use an LLM to generate concise answers from retrieved evidence.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– Check citations, faithfulness and confidence before presenting the answer.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" y="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588640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7" name="Text 7"/>
          <p:cNvSpPr/>
          <p:nvPr/>
        </p:nvSpPr>
        <p:spPr>
          <a:xfrm>
            <a:off x="588640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8"/>
          <p:cNvSpPr/>
          <p:nvPr/>
        </p:nvSpPr>
        <p:spPr>
          <a:xfrm>
            <a:off x="3081528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3401568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3441568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" name="Text 12"/>
          <p:cNvSpPr/>
          <p:nvPr/>
        </p:nvSpPr>
        <p:spPr>
          <a:xfrm>
            <a:off x="3441568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3"/>
          <p:cNvSpPr/>
          <p:nvPr/>
        </p:nvSpPr>
        <p:spPr>
          <a:xfrm>
            <a:off x="5934456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6254496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Text 16"/>
          <p:cNvSpPr/>
          <p:nvPr/>
        </p:nvSpPr>
        <p:spPr>
          <a:xfrm>
            <a:off x="6294496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7"/>
          <p:cNvSpPr/>
          <p:nvPr/>
        </p:nvSpPr>
        <p:spPr>
          <a:xfrm>
            <a:off x="6294496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8"/>
          <p:cNvSpPr/>
          <p:nvPr/>
        </p:nvSpPr>
        <p:spPr>
          <a:xfrm>
            <a:off x="8787384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9107424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Text 21"/>
          <p:cNvSpPr/>
          <p:nvPr/>
        </p:nvSpPr>
        <p:spPr>
          <a:xfrm>
            <a:off x="9147424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2" name="Text 22"/>
          <p:cNvSpPr/>
          <p:nvPr/>
        </p:nvSpPr>
        <p:spPr>
          <a:xfrm>
            <a:off x="9147424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4"/>
          <p:cNvSpPr/>
          <p:nvPr/>
        </p:nvSpPr>
        <p:spPr>
          <a:xfrm>
            <a:off x="548640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5"/>
          <p:cNvSpPr/>
          <p:nvPr/>
        </p:nvSpPr>
        <p:spPr>
          <a:xfrm>
            <a:off x="588640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6" name="Text 26"/>
          <p:cNvSpPr/>
          <p:nvPr/>
        </p:nvSpPr>
        <p:spPr>
          <a:xfrm>
            <a:off x="588640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7"/>
          <p:cNvSpPr/>
          <p:nvPr/>
        </p:nvSpPr>
        <p:spPr>
          <a:xfrm>
            <a:off x="3081528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9"/>
          <p:cNvSpPr/>
          <p:nvPr/>
        </p:nvSpPr>
        <p:spPr>
          <a:xfrm>
            <a:off x="3401568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0" name="Text 30"/>
          <p:cNvSpPr/>
          <p:nvPr/>
        </p:nvSpPr>
        <p:spPr>
          <a:xfrm>
            <a:off x="3441568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1" name="Text 31"/>
          <p:cNvSpPr/>
          <p:nvPr/>
        </p:nvSpPr>
        <p:spPr>
          <a:xfrm>
            <a:off x="3441568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32"/>
          <p:cNvSpPr/>
          <p:nvPr/>
        </p:nvSpPr>
        <p:spPr>
          <a:xfrm>
            <a:off x="5934456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600" dirty="0"/>
          </a:p>
        </p:txBody>
      </p:sp>
      <p:sp>
        <p:nvSpPr>
          <p:cNvPr id="34" name="Text 34"/>
          <p:cNvSpPr/>
          <p:nvPr/>
        </p:nvSpPr>
        <p:spPr>
          <a:xfrm>
            <a:off x="6254496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5" name="Text 35"/>
          <p:cNvSpPr/>
          <p:nvPr/>
        </p:nvSpPr>
        <p:spPr>
          <a:xfrm>
            <a:off x="6294496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6" name="Text 36"/>
          <p:cNvSpPr/>
          <p:nvPr/>
        </p:nvSpPr>
        <p:spPr>
          <a:xfrm>
            <a:off x="6294496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7"/>
          <p:cNvSpPr/>
          <p:nvPr/>
        </p:nvSpPr>
        <p:spPr>
          <a:xfrm>
            <a:off x="8787384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9"/>
          <p:cNvSpPr/>
          <p:nvPr/>
        </p:nvSpPr>
        <p:spPr>
          <a:xfrm>
            <a:off x="9107424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0" name="Text 40"/>
          <p:cNvSpPr/>
          <p:nvPr/>
        </p:nvSpPr>
        <p:spPr>
          <a:xfrm>
            <a:off x="9147424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1" name="Text 41"/>
          <p:cNvSpPr/>
          <p:nvPr/>
        </p:nvSpPr>
        <p:spPr>
          <a:xfrm>
            <a:off x="9147424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5794476" y="3100000"/>
            <a:ext cx="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4" name="Text 44"/>
          <p:cNvSpPr/>
          <p:nvPr/>
        </p:nvSpPr>
        <p:spPr>
          <a:xfrm>
            <a:off x="822960" y="530000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46" name="Text 4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61" y="539964"/>
            <a:ext cx="9399230" cy="572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Tools and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for the retrieval-augmented legal assistant</a:t>
            </a:r>
            <a:endParaRPr lang="en-US" sz="1250" dirty="0"/>
          </a:p>
        </p:txBody>
      </p:sp>
      <p:sp>
        <p:nvSpPr>
          <p:cNvPr id="4" name="Shape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ML/NLP pipeline</a:t>
            </a:r>
            <a:endParaRPr lang="en-US" sz="1050" dirty="0"/>
          </a:p>
        </p:txBody>
      </p:sp>
      <p:sp>
        <p:nvSpPr>
          <p:cNvPr id="7" name="Shape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indexing and similarity search</a:t>
            </a:r>
            <a:endParaRPr lang="en-US" sz="1050" dirty="0"/>
          </a:p>
        </p:txBody>
      </p:sp>
      <p:sp>
        <p:nvSpPr>
          <p:cNvPr id="16" name="Shape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300" dirty="0"/>
          </a:p>
        </p:txBody>
      </p:sp>
      <p:sp>
        <p:nvSpPr>
          <p:cNvPr id="18" name="Text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retrieved passages</a:t>
            </a:r>
            <a:endParaRPr lang="en-US" sz="1050" dirty="0"/>
          </a:p>
        </p:txBody>
      </p:sp>
      <p:sp>
        <p:nvSpPr>
          <p:cNvPr id="19" name="Shape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1" name="Text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Text Cleaning</a:t>
            </a:r>
            <a:endParaRPr lang="en-US" sz="1300" dirty="0"/>
          </a:p>
        </p:txBody>
      </p:sp>
      <p:sp>
        <p:nvSpPr>
          <p:cNvPr id="24" name="Text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and preprocessing</a:t>
            </a:r>
            <a:endParaRPr lang="en-US" sz="1050" dirty="0"/>
          </a:p>
        </p:txBody>
      </p:sp>
      <p:sp>
        <p:nvSpPr>
          <p:cNvPr id="25" name="Shape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7" name="Text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</a:t>
            </a:r>
            <a:endParaRPr lang="en-US" sz="1050" dirty="0"/>
          </a:p>
        </p:txBody>
      </p:sp>
      <p:sp>
        <p:nvSpPr>
          <p:cNvPr id="28" name="Shape"/>
          <p:cNvSpPr/>
          <p:nvPr/>
        </p:nvSpPr>
        <p:spPr>
          <a:xfrm>
            <a:off x="548640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"/>
          <p:cNvSpPr/>
          <p:nvPr/>
        </p:nvSpPr>
        <p:spPr>
          <a:xfrm>
            <a:off x="777240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Text"/>
          <p:cNvSpPr/>
          <p:nvPr/>
        </p:nvSpPr>
        <p:spPr>
          <a:xfrm>
            <a:off x="777240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31" name="Shape"/>
          <p:cNvSpPr/>
          <p:nvPr/>
        </p:nvSpPr>
        <p:spPr>
          <a:xfrm>
            <a:off x="6368796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"/>
          <p:cNvSpPr/>
          <p:nvPr/>
        </p:nvSpPr>
        <p:spPr>
          <a:xfrm>
            <a:off x="6597396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33" name="Text"/>
          <p:cNvSpPr/>
          <p:nvPr/>
        </p:nvSpPr>
        <p:spPr>
          <a:xfrm>
            <a:off x="6597396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 and faithfulness scoring</a:t>
            </a:r>
            <a:endParaRPr lang="en-US" sz="1050" dirty="0"/>
          </a:p>
        </p:txBody>
      </p:sp>
      <p:sp>
        <p:nvSpPr>
          <p:cNvPr id="34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5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33275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641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and relevance using an expert/rubric-based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and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latency, answer length and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BM25, dense retrieval, hybrid retrieval and reranking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0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keyword baseline while reducing unsupported generated claims.</a:t>
            </a:r>
            <a:endParaRPr lang="en-US" sz="1250" dirty="0"/>
          </a:p>
        </p:txBody>
      </p:sp>
      <p:sp>
        <p:nvSpPr>
          <p:cNvPr id="6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Prototype implementation of the retrieval-augmented legal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4533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1.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74519"/>
            <a:ext cx="483717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Court judgments are collected with case, paragraph and citation metadata for</a:t>
            </a:r>
            <a:r>
              <a:rPr lang="en-IN" sz="1050" dirty="0">
                <a:solidFill>
                  <a:srgbClr val="595959"/>
                </a:solidFill>
                <a:latin typeface="Calibri"/>
              </a:rPr>
              <a:t> 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searchable legal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54533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2.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874519"/>
            <a:ext cx="4837176" cy="5760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OCR/text cleaning and legal-structure-aware chunking prepare judgments for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00837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3. Hybrid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337560"/>
            <a:ext cx="5030544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BM25 lexical search and dense embeddings retrieve complementary passages; reranking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refines the top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300837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4. RAG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337560"/>
            <a:ext cx="4724370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LLM receives the user query together with retrieved evidence and generates a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concise grounded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447141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5. Evidence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800600"/>
            <a:ext cx="494718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Claims are linked to source passages and weak evidence can trigger a low-confidence /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abstain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47141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6.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800600"/>
            <a:ext cx="5061001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</a:t>
            </a:r>
            <a:r>
              <a:rPr sz="1050" b="0" dirty="0" err="1">
                <a:solidFill>
                  <a:srgbClr val="595959"/>
                </a:solidFill>
                <a:latin typeface="Calibri"/>
              </a:rPr>
              <a:t>LexAI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 interface provides search, language selection, AI mode, voice/lens controls and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evidence display.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LexAI user interface and search controls</a:t>
            </a:r>
          </a:p>
        </p:txBody>
      </p:sp>
      <p:pic>
        <p:nvPicPr>
          <p:cNvPr id="4" name="Picture 3" descr="35ec9043-6f22-4cd4-a856-44239e702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635240" cy="40920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417320"/>
            <a:ext cx="3154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22792" y="1545336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Language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1874519"/>
            <a:ext cx="2829621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interface provides multiple Indian-language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options along with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606040"/>
            <a:ext cx="3154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734056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Legal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3063240"/>
            <a:ext cx="3126177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Users can enter statutory or case-related queries and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launch </a:t>
            </a:r>
            <a:r>
              <a:rPr sz="1050" b="0" dirty="0" err="1">
                <a:solidFill>
                  <a:srgbClr val="595959"/>
                </a:solidFill>
                <a:latin typeface="Calibri"/>
              </a:rPr>
              <a:t>LexAI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 Search or the quick-search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886200"/>
            <a:ext cx="3154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4014215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AI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4343400"/>
            <a:ext cx="3060453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AI Mode, Voice and Lens controls provide additional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ways to interact with the legal research prototype.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77840"/>
            <a:ext cx="7635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Calibri"/>
              </a:rPr>
              <a:t>Implemented prototype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Grounded answer generation and source provenance</a:t>
            </a:r>
          </a:p>
        </p:txBody>
      </p:sp>
      <p:pic>
        <p:nvPicPr>
          <p:cNvPr id="4" name="Picture 3" descr="01490d88-a230-4af3-a741-2f8a7effd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818120" cy="41472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2588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8512" y="1453895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AI Overview &amp;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8512" y="1783080"/>
            <a:ext cx="2946640" cy="57708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Retrieved judgment passages are combined into a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concise legal synthesis while retaining the source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60604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2734056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Source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3063240"/>
            <a:ext cx="2661306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evidence panel displays the cited dataset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paragraph and the associated court finding.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88620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68512" y="4014215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Statute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343400"/>
            <a:ext cx="294022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Cited statutes and legal provisions are surfaced as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supporting evidence for the retrieved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5166360"/>
            <a:ext cx="31089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633644" y="5207674"/>
            <a:ext cx="277977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62626"/>
                </a:solidFill>
                <a:latin typeface="Calibri"/>
              </a:rPr>
              <a:t>Implementation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3644" y="5428463"/>
            <a:ext cx="277977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 dirty="0">
                <a:solidFill>
                  <a:srgbClr val="595959"/>
                </a:solidFill>
                <a:latin typeface="Calibri"/>
              </a:rPr>
              <a:t>Keep generated answers traceable to retrieved legal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353" y="399474"/>
            <a:ext cx="274145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 smtClean="0">
                <a:solidFill>
                  <a:srgbClr val="8C1116"/>
                </a:solidFill>
                <a:latin typeface="Cambria"/>
              </a:rPr>
              <a:t>Implementation</a:t>
            </a:r>
            <a:endParaRPr lang="en-IN"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42" y="1143585"/>
            <a:ext cx="9313200" cy="496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9253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3467488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2600" b="1" dirty="0" smtClean="0">
                <a:solidFill>
                  <a:srgbClr val="8C1116"/>
                </a:solidFill>
                <a:latin typeface="Cambria"/>
              </a:rPr>
              <a:t>Comparative Analysis</a:t>
            </a:r>
            <a:endParaRPr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130970"/>
            <a:ext cx="11041200" cy="5141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94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647" y="415516"/>
            <a:ext cx="34674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>
                <a:solidFill>
                  <a:srgbClr val="8C1116"/>
                </a:solidFill>
                <a:latin typeface="Cambria"/>
              </a:rPr>
              <a:t>Comparative Analysis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32" y="1410452"/>
            <a:ext cx="9334800" cy="4803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7204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4836" y="463642"/>
            <a:ext cx="34674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>
                <a:solidFill>
                  <a:srgbClr val="8C1116"/>
                </a:solidFill>
                <a:latin typeface="Cambria"/>
              </a:rPr>
              <a:t>Comparative Analysis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119" y="1385888"/>
            <a:ext cx="9205200" cy="476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46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2136</Words>
  <Application>Microsoft Office PowerPoint</Application>
  <PresentationFormat>Custom</PresentationFormat>
  <Paragraphs>398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6</cp:revision>
  <dcterms:created xsi:type="dcterms:W3CDTF">2026-08-13T05:49:54Z</dcterms:created>
  <dcterms:modified xsi:type="dcterms:W3CDTF">2026-10-08T06:15:54Z</dcterms:modified>
</cp:coreProperties>
</file>