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-1219" y="-8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820820-A518-4D7B-9E7A-956C3C6C222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1825" y="914400"/>
            <a:ext cx="8121650" cy="4570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89613"/>
            <a:ext cx="5486400" cy="5484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77638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77638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5ED2D-9FDA-4D54-B9D0-A0777E938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48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3.ccl-1.68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pdf/2508.00709" TargetMode="External"/><Relationship Id="rId5" Type="http://schemas.openxmlformats.org/officeDocument/2006/relationships/hyperlink" Target="https://arxiv.org/abs/2408.10343" TargetMode="External"/><Relationship Id="rId4" Type="http://schemas.openxmlformats.org/officeDocument/2006/relationships/hyperlink" Target="https://aclanthology.org/2024.nllp-1.6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2377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1488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Intelligent Legal Assistant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29260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Court Judgments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35204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Judgments   ·   Hybrid Retrieval   ·   LLM Reasoning   ·   Cited Answer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43434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Text Analytics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48006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Sahasra – 2420090091</a:t>
            </a:r>
            <a:endParaRPr lang="en-US" sz="12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P. Shreya – 2420090093</a:t>
            </a:r>
            <a:endParaRPr lang="en-US" sz="12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Gowrie – 2420030298</a:t>
            </a:r>
            <a:endParaRPr lang="en-US" sz="12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Ishta – 2420039803</a:t>
            </a:r>
            <a:endParaRPr lang="en-US" sz="1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Title &amp; 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19072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Intelligent Legal Assistant for Court Judgments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0" y="141732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0" y="1719072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judgments are long, citation-heavy and domain-specific. Keyword search can miss semantically related precedents, while standalone LLMs may produce unsupported or hallucinated legal claims.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34533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legal research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access to precedents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answers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67784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analytics challenge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67784" y="3886200"/>
            <a:ext cx="34533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Long-document understanding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terminology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relevance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86928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requirement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86928" y="3886200"/>
            <a:ext cx="34533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material claim should be traceable to retrieved judgment passages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should abstain when evidence is weak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 smtClean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 smtClean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15087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searchable corpus of court judgments </a:t>
            </a:r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ybrid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— BM25 + dense </a:t>
            </a:r>
            <a:r>
              <a:rPr lang="en-US" sz="14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metadata filters, refined by </a:t>
            </a:r>
            <a:r>
              <a:rPr lang="en-US" sz="14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endParaRPr lang="en-US" sz="14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 smtClean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 smtClean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 smtClean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 smtClean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 smtClean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latin typeface="Calibri" charset="0"/>
              <a:ea typeface="Calibri" charset="0"/>
              <a:cs typeface="Calibri" charset="0"/>
            </a:endParaRP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1945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legal-aware retrieval using dense + lexical </a:t>
            </a:r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Attach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case, paragraph/page and citation evidence to outputs.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generate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answers grounded in retrieved </a:t>
            </a:r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passages</a:t>
            </a:r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Evaluate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quality, answer quality and faithfulness.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5661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demonstrate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for legal research assistance — not autonomous legal decision-making.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2519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42519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49377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740910"/>
              </p:ext>
            </p:extLst>
          </p:nvPr>
        </p:nvGraphicFramePr>
        <p:xfrm>
          <a:off x="548640" y="1417320"/>
          <a:ext cx="11091672" cy="4526280"/>
        </p:xfrm>
        <a:graphic>
          <a:graphicData uri="http://schemas.openxmlformats.org/drawingml/2006/table">
            <a:tbl>
              <a:tblPr/>
              <a:tblGrid>
                <a:gridCol w="2651760"/>
                <a:gridCol w="2743200"/>
                <a:gridCol w="2743200"/>
                <a:gridCol w="2953512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Implication for project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Retrieval for </a:t>
                      </a: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LJP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smtClean="0">
                          <a:latin typeface="Calibri" charset="0"/>
                          <a:ea typeface="Calibri" charset="0"/>
                          <a:cs typeface="Calibri" charset="0"/>
                          <a:hlinkClick r:id="rId3"/>
                        </a:rPr>
                        <a:t>https://aclanthology.org/2023.ccl-1.68/</a:t>
                      </a: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(Zhang &amp; Dou, 2023)</a:t>
                      </a: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cases improve realism of legal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precedent retrieval as a first-class 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Rethinking Legal Judgment </a:t>
                      </a: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smtClean="0">
                          <a:latin typeface="Calibri" charset="0"/>
                          <a:ea typeface="Calibri" charset="0"/>
                          <a:cs typeface="Calibri" charset="0"/>
                          <a:hlinkClick r:id="rId4"/>
                        </a:rPr>
                        <a:t>https://aclanthology.org/2024.nllp-1.6/</a:t>
                      </a: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(Nigam et al., 2024)</a:t>
                      </a: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legal information improves prediction; expert-level reliability remains open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responses in statutes/precedents, avoid overclaiming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LegalBench-RAG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smtClean="0">
                          <a:latin typeface="Calibri" charset="0"/>
                          <a:ea typeface="Calibri" charset="0"/>
                          <a:cs typeface="Calibri" charset="0"/>
                          <a:hlinkClick r:id="rId5"/>
                        </a:rPr>
                        <a:t>https://arxiv.org/abs/2408.10343</a:t>
                      </a: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</a:t>
                      </a:r>
                      <a:r>
                        <a:rPr lang="en-US" sz="1050" dirty="0" err="1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Pipitone</a:t>
                      </a: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&amp; </a:t>
                      </a:r>
                      <a:r>
                        <a:rPr lang="en-US" sz="1050" dirty="0" err="1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Houir</a:t>
                      </a: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dirty="0" err="1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Alami</a:t>
                      </a: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2024)</a:t>
                      </a: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Precise snippets are preferable to large imprecise chunks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 passage-level retrieval and citation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err="1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NyayaRAG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smtClean="0">
                          <a:latin typeface="Calibri" charset="0"/>
                          <a:ea typeface="Calibri" charset="0"/>
                          <a:cs typeface="Calibri" charset="0"/>
                          <a:hlinkClick r:id="rId6"/>
                        </a:rPr>
                        <a:t>https://arxiv.org/pdf/2508.00709</a:t>
                      </a: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(Nigam et al., 2025)</a:t>
                      </a: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realistic case context with precedent retrieval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Motivates India-focused retrieval + explanation pipeline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" name="Text 2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Identification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gap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semantic search may retrieve topical matches without enough legal relevance, hierarchy or temporal context.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367784" y="150876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gap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67784" y="187452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chunks can split holdings, exceptions, citations and procedural context.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186928" y="150876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86928" y="187452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fluent answer is not enough; users need claim-level provenance and direct judgment evidence.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gap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88620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needs separate measurement of retrieval relevance, answer correctness and faithfulness.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67784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67784" y="388620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studies target prediction or retrieval separately; an end-to-end court-judgment assistant must connect ingestion → retrieval → grounded response.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Innovation, Creativity &amp; Novelty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200400" y="150876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retrieval: BM25/keyword + dense embeddings + metadata filters + cross-encoder reranking.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974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00400" y="269748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Legal-structure-aware chunking around case sections, issues, holdings, statutes and cited precedents.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88620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00400" y="388620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Evidence-first answer generation: each claim is linked to retrieved passages; unsupported claims trigger a low-confidence / abstain response.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07492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contribution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00400" y="507492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evaluation matrix that separately measures Recall@k / MRR, citation correctness, groundedness, answer relevance and latency.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612648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for court-judgment question answering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504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Judgments + metadata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30552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50592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05456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Prep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05456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text cleaning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32504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52544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52544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07408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07408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vector index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34456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54496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top-k + reranking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836408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56448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6448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11312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11312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with retrieved evidence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738360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058400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0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113264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113264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+ faithfulness check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3794760"/>
            <a:ext cx="11091672" cy="68580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379476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query: </a:t>
            </a: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precedents support X?”</a:t>
            </a:r>
            <a:r>
              <a:rPr lang="en-US" sz="13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    </a:t>
            </a: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citations + confidence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5623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accessible judgment repositories or institution-provided datasets can support a prototype. Start with one jurisdiction/court to control scope.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68796" y="150876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68796" y="185623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sentence-transformers / legal embeddings, BM25, FAISS/Chroma, reranker, and an open or API-based LLM.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27355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can run on a single modern GPU or cloud notebook; retrieval can remain local while generation is modular.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68796" y="292608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68796" y="327355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NLP preprocessing, information retrieval, embeddings, evaluation and prompt engineering — aligned with text analytics.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6177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controls:  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citations, confidence thresholds, human verification and an explicit “insufficient evidence” response.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 for the retrieval-augmented legal assistant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the ML / NLP pipeline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68796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8" name="Text 6"/>
          <p:cNvSpPr/>
          <p:nvPr/>
        </p:nvSpPr>
        <p:spPr>
          <a:xfrm>
            <a:off x="6597396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97396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legal-domain embeddings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/ keyword retrieval signal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68796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14" name="Text 12"/>
          <p:cNvSpPr/>
          <p:nvPr/>
        </p:nvSpPr>
        <p:spPr>
          <a:xfrm>
            <a:off x="6597396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/ ChromaDB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97396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 &amp; similarity search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Reorders top-k hybrid results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68796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20" name="Text 18"/>
          <p:cNvSpPr/>
          <p:nvPr/>
        </p:nvSpPr>
        <p:spPr>
          <a:xfrm>
            <a:off x="6597396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(open-source / API)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97396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 generation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 Text Cleaning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ingestion &amp; preprocessing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68796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26" name="Text 24"/>
          <p:cNvSpPr/>
          <p:nvPr/>
        </p:nvSpPr>
        <p:spPr>
          <a:xfrm>
            <a:off x="6597396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Suite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97396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Recall@k, MRR, faithfulness scoring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54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modern GPU or cloud notebook — retrieval stays local while generation is modular.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Success Criteria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3429000"/>
        </p:xfrm>
        <a:graphic>
          <a:graphicData uri="http://schemas.openxmlformats.org/drawingml/2006/table">
            <a:tbl>
              <a:tblPr/>
              <a:tblGrid>
                <a:gridCol w="2468880"/>
                <a:gridCol w="4114800"/>
                <a:gridCol w="4507992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Recall@k, Precision@k, MRR / nDCG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relevant precedents/passages retrieved?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quality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or rubric-based correctness + relevance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response answer the legal question?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Claim-to-source entailment / citation correctness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claims supported by retrieved evidence?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Latency, answer length, citation 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assistant practical for research?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vs dense vs hybrid vs reranker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component contributes most?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34924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outcome:  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evidence retrieval and citation coverage over a simple keyword baseline while reducing unsupported generated claims.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Legal Search vs. This Project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402336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4416552"/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Legal Websites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Project (RAG Assistant)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/ Boolean search over full judgments; misses semantically related precedents.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retrieval — BM25 + dense embeddings + metadata filters, refined by reranking.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handling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whole judgments or fixed pages; holdings and exceptions can get split apart.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Legal-structure-aware chunking around issues, holdings, statutes and precedents.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format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ranked list of documents — the user must read each judgment to find the answer.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concise, generated answer grounded directly in the retrieved passages.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&amp; citations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claim-level links; citations must be located manually inside the judgment.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claim is linked to its case, paragraph/page and citation.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confidence signal — results are shown regardless of relevance.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 check with a low-confidence / abstain response when evidence is weak.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39496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55321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 </a:t>
            </a: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legal search returns documents to read — this project returns a grounded, cited, confidence-checked answer.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10-week academic project schedule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literature survey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98424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984248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 + metadata schema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36829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368296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OCR checks + legal-aware chunking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75234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752344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dense retrieval baseline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13639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136392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+ reranker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68796" y="16002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17436" y="1600200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prompt design + citation formatting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68796" y="198424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17436" y="1984248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/ confidence verification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68796" y="236829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17436" y="2368296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+ ablation experiments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68796" y="275234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17436" y="2752344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+ UI/prototype refinement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68796" y="313639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17436" y="3136392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presentation + demo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977640"/>
            <a:ext cx="3453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297680"/>
            <a:ext cx="3453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retrieval baseline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67784" y="3977640"/>
            <a:ext cx="3453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67784" y="4297680"/>
            <a:ext cx="3453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RAG prototype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86928" y="3977640"/>
            <a:ext cx="3453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86928" y="4297680"/>
            <a:ext cx="3453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+ final demo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 &amp; References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legal research assistant that: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relevant court-judgment passages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evidence in plain language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source passages/cases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confidence and uncertainty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human legal research rather than replacing legal judgment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Value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279392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applied ML for text analytics through retrieval, semantic similarity, reranking, generation, evaluation and error analysis.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89320" y="1417320"/>
            <a:ext cx="0" cy="457200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4173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63640" y="173736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Zhang &amp; Dou (2023), Case Retrieval for Legal Judgment Prediction, ACL Anthology.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Nigam et al. (2024), Rethinking Legal Judgement Prediction in a Realistic Scenario, arXiv.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Pipitone &amp; Houir Alami (2024), LegalBench-RAG, arXiv.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Wiggers &amp; Hartz (2024), LeReRAG: Measuring Legal Relevance in RAG Applications, IOS Press.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Nigam et al. (2025), NyayaRAG: Realistic Legal Judgment Prediction with RAG under the Indian Common Law System, IJCNLP/ACL Anthology.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Magesh et al. (2024), Hallucination-Free? Assessing the Reliability of Leading AI Legal Research Tools, arXiv.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1453</Words>
  <Application>Microsoft Office PowerPoint</Application>
  <PresentationFormat>Custom</PresentationFormat>
  <Paragraphs>273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Sahasra Alla</cp:lastModifiedBy>
  <cp:revision>5</cp:revision>
  <dcterms:created xsi:type="dcterms:W3CDTF">2026-08-13T05:49:54Z</dcterms:created>
  <dcterms:modified xsi:type="dcterms:W3CDTF">2026-08-14T09:25:36Z</dcterms:modified>
</cp:coreProperties>
</file>